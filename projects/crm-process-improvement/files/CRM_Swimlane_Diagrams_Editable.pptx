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30400" cy="838434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8779"/>
          </a:xfrm>
          <a:prstGeom prst="rect">
            <a:avLst/>
          </a:prstGeom>
          <a:solidFill>
            <a:srgbClr val="246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05149" y="298235"/>
            <a:ext cx="2363372" cy="253218"/>
          </a:xfrm>
          <a:prstGeom prst="roundRect">
            <a:avLst>
              <a:gd name="adj" fmla="val 10000"/>
            </a:avLst>
          </a:prstGeom>
          <a:solidFill>
            <a:srgbClr val="FCE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2674" y="365760"/>
            <a:ext cx="2813538" cy="202574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1050" b="1">
                <a:solidFill>
                  <a:srgbClr val="C14950"/>
                </a:solidFill>
                <a:latin typeface="DejaVu Sans"/>
              </a:rPr>
              <a:t>AS-IS / RECONSTRUCTED CURRENT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895" y="635859"/>
            <a:ext cx="13758203" cy="337624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2600" b="1">
                <a:solidFill>
                  <a:srgbClr val="14273E"/>
                </a:solidFill>
                <a:latin typeface="DejaVu Sans"/>
              </a:rPr>
              <a:t>Order, Stock &amp; Payment Controls - Current-State Gaps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895" y="1007246"/>
            <a:ext cx="13504984" cy="253218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1010" b="0">
                <a:solidFill>
                  <a:srgbClr val="586D84"/>
                </a:solidFill>
                <a:latin typeface="DejaVu Sans"/>
              </a:rPr>
              <a:t>Illustrative process based on reported operating issues. Not a formally verified legacy SOP.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895" y="1294227"/>
            <a:ext cx="13842609" cy="1170432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3895" y="1294227"/>
            <a:ext cx="1198567" cy="1170432"/>
          </a:xfrm>
          <a:prstGeom prst="roundRect">
            <a:avLst>
              <a:gd name="adj" fmla="val 10000"/>
            </a:avLst>
          </a:prstGeom>
          <a:solidFill>
            <a:srgbClr val="E0E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645920"/>
            <a:ext cx="984738" cy="483928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1120" b="1">
                <a:solidFill>
                  <a:srgbClr val="14273E"/>
                </a:solidFill>
                <a:latin typeface="DejaVu Sans"/>
              </a:rPr>
              <a:t>Sales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895" y="2492795"/>
            <a:ext cx="13842609" cy="1170432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93895" y="2492795"/>
            <a:ext cx="1198567" cy="1170432"/>
          </a:xfrm>
          <a:prstGeom prst="roundRect">
            <a:avLst>
              <a:gd name="adj" fmla="val 10000"/>
            </a:avLst>
          </a:prstGeom>
          <a:solidFill>
            <a:srgbClr val="E0E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2844487"/>
            <a:ext cx="984738" cy="483928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1120" b="1">
                <a:solidFill>
                  <a:srgbClr val="14273E"/>
                </a:solidFill>
                <a:latin typeface="DejaVu Sans"/>
              </a:rPr>
              <a:t>Warehouse / Dispatch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895" y="3691362"/>
            <a:ext cx="13842609" cy="1170432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3895" y="3691362"/>
            <a:ext cx="1198567" cy="1170432"/>
          </a:xfrm>
          <a:prstGeom prst="roundRect">
            <a:avLst>
              <a:gd name="adj" fmla="val 10000"/>
            </a:avLst>
          </a:prstGeom>
          <a:solidFill>
            <a:srgbClr val="E0E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4043054"/>
            <a:ext cx="984738" cy="483928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1120" b="1">
                <a:solidFill>
                  <a:srgbClr val="14273E"/>
                </a:solidFill>
                <a:latin typeface="DejaVu Sans"/>
              </a:rPr>
              <a:t>Cash Collection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3895" y="4889929"/>
            <a:ext cx="13842609" cy="1170432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93895" y="4889929"/>
            <a:ext cx="1198567" cy="1170432"/>
          </a:xfrm>
          <a:prstGeom prst="roundRect">
            <a:avLst>
              <a:gd name="adj" fmla="val 10000"/>
            </a:avLst>
          </a:prstGeom>
          <a:solidFill>
            <a:srgbClr val="E0E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" y="5241622"/>
            <a:ext cx="984738" cy="483928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1120" b="1">
                <a:solidFill>
                  <a:srgbClr val="14273E"/>
                </a:solidFill>
                <a:latin typeface="DejaVu Sans"/>
              </a:rPr>
              <a:t>Finance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3895" y="6088497"/>
            <a:ext cx="13842609" cy="1170432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93895" y="6088497"/>
            <a:ext cx="1198567" cy="1170432"/>
          </a:xfrm>
          <a:prstGeom prst="roundRect">
            <a:avLst>
              <a:gd name="adj" fmla="val 10000"/>
            </a:avLst>
          </a:prstGeom>
          <a:solidFill>
            <a:srgbClr val="E0E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6440189"/>
            <a:ext cx="984738" cy="483928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1120" b="1">
                <a:solidFill>
                  <a:srgbClr val="14273E"/>
                </a:solidFill>
                <a:latin typeface="DejaVu Sans"/>
              </a:rPr>
              <a:t>Sales Operations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516923" y="1893511"/>
            <a:ext cx="405149" cy="0"/>
          </a:xfrm>
          <a:prstGeom prst="line">
            <a:avLst/>
          </a:prstGeom>
          <a:ln w="20955">
            <a:solidFill>
              <a:srgbClr val="246A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3938953" y="1842867"/>
            <a:ext cx="106914" cy="101287"/>
          </a:xfrm>
          <a:prstGeom prst="triangle">
            <a:avLst/>
          </a:prstGeom>
          <a:solidFill>
            <a:srgbClr val="246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5824024" y="1893511"/>
            <a:ext cx="630233" cy="0"/>
          </a:xfrm>
          <a:prstGeom prst="line">
            <a:avLst/>
          </a:prstGeom>
          <a:ln w="20955">
            <a:solidFill>
              <a:srgbClr val="246A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5400000">
            <a:off x="6471138" y="1842867"/>
            <a:ext cx="106914" cy="101287"/>
          </a:xfrm>
          <a:prstGeom prst="triangle">
            <a:avLst/>
          </a:prstGeom>
          <a:solidFill>
            <a:srgbClr val="246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5824024" y="1893511"/>
            <a:ext cx="253219" cy="0"/>
          </a:xfrm>
          <a:prstGeom prst="line">
            <a:avLst/>
          </a:prstGeom>
          <a:ln w="20955">
            <a:solidFill>
              <a:srgbClr val="246A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77243" y="1893511"/>
            <a:ext cx="0" cy="1198567"/>
          </a:xfrm>
          <a:prstGeom prst="line">
            <a:avLst/>
          </a:prstGeom>
          <a:ln w="20955">
            <a:solidFill>
              <a:srgbClr val="246A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077243" y="3092078"/>
            <a:ext cx="377014" cy="0"/>
          </a:xfrm>
          <a:prstGeom prst="line">
            <a:avLst/>
          </a:prstGeom>
          <a:ln w="20955">
            <a:solidFill>
              <a:srgbClr val="246A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5400000">
            <a:off x="6471138" y="3041435"/>
            <a:ext cx="106914" cy="101287"/>
          </a:xfrm>
          <a:prstGeom prst="triangle">
            <a:avLst/>
          </a:prstGeom>
          <a:solidFill>
            <a:srgbClr val="246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8271803" y="3092078"/>
            <a:ext cx="320743" cy="0"/>
          </a:xfrm>
          <a:prstGeom prst="line">
            <a:avLst/>
          </a:prstGeom>
          <a:ln w="20955">
            <a:solidFill>
              <a:srgbClr val="246A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5400000">
            <a:off x="8609427" y="3041435"/>
            <a:ext cx="106914" cy="101287"/>
          </a:xfrm>
          <a:prstGeom prst="triangle">
            <a:avLst/>
          </a:prstGeom>
          <a:solidFill>
            <a:srgbClr val="246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8271803" y="1893511"/>
            <a:ext cx="141802" cy="0"/>
          </a:xfrm>
          <a:prstGeom prst="line">
            <a:avLst/>
          </a:prstGeom>
          <a:ln w="20955">
            <a:solidFill>
              <a:srgbClr val="246A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413605" y="1893511"/>
            <a:ext cx="0" cy="2397135"/>
          </a:xfrm>
          <a:prstGeom prst="line">
            <a:avLst/>
          </a:prstGeom>
          <a:ln w="20955">
            <a:solidFill>
              <a:srgbClr val="246A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413605" y="4290646"/>
            <a:ext cx="178941" cy="0"/>
          </a:xfrm>
          <a:prstGeom prst="line">
            <a:avLst/>
          </a:prstGeom>
          <a:ln w="20955">
            <a:solidFill>
              <a:srgbClr val="246A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/>
          <p:cNvSpPr/>
          <p:nvPr/>
        </p:nvSpPr>
        <p:spPr>
          <a:xfrm rot="5400000">
            <a:off x="8609427" y="4240002"/>
            <a:ext cx="106914" cy="101287"/>
          </a:xfrm>
          <a:prstGeom prst="triangle">
            <a:avLst/>
          </a:prstGeom>
          <a:solidFill>
            <a:srgbClr val="246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10522633" y="4290646"/>
            <a:ext cx="95661" cy="0"/>
          </a:xfrm>
          <a:prstGeom prst="line">
            <a:avLst/>
          </a:prstGeom>
          <a:ln w="20955">
            <a:solidFill>
              <a:srgbClr val="246A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10325686" y="4290646"/>
            <a:ext cx="292608" cy="1198567"/>
          </a:xfrm>
          <a:prstGeom prst="line">
            <a:avLst/>
          </a:prstGeom>
          <a:ln w="20955">
            <a:solidFill>
              <a:srgbClr val="246A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sosceles Triangle 37"/>
          <p:cNvSpPr/>
          <p:nvPr/>
        </p:nvSpPr>
        <p:spPr>
          <a:xfrm rot="5400000">
            <a:off x="10342567" y="5438569"/>
            <a:ext cx="106914" cy="101287"/>
          </a:xfrm>
          <a:prstGeom prst="triangle">
            <a:avLst/>
          </a:prstGeom>
          <a:solidFill>
            <a:srgbClr val="246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8271803" y="1893511"/>
            <a:ext cx="337624" cy="0"/>
          </a:xfrm>
          <a:prstGeom prst="line">
            <a:avLst/>
          </a:prstGeom>
          <a:ln w="20955">
            <a:solidFill>
              <a:srgbClr val="246A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609427" y="1893511"/>
            <a:ext cx="0" cy="3595702"/>
          </a:xfrm>
          <a:prstGeom prst="line">
            <a:avLst/>
          </a:prstGeom>
          <a:ln w="20955">
            <a:solidFill>
              <a:srgbClr val="246A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609427" y="5489213"/>
            <a:ext cx="1727513" cy="0"/>
          </a:xfrm>
          <a:prstGeom prst="line">
            <a:avLst/>
          </a:prstGeom>
          <a:ln w="20955">
            <a:solidFill>
              <a:srgbClr val="246A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Isosceles Triangle 41"/>
          <p:cNvSpPr/>
          <p:nvPr/>
        </p:nvSpPr>
        <p:spPr>
          <a:xfrm rot="5400000">
            <a:off x="10353821" y="5438569"/>
            <a:ext cx="106914" cy="101287"/>
          </a:xfrm>
          <a:prstGeom prst="triangle">
            <a:avLst/>
          </a:prstGeom>
          <a:solidFill>
            <a:srgbClr val="246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10578904" y="3092078"/>
            <a:ext cx="337625" cy="0"/>
          </a:xfrm>
          <a:prstGeom prst="line">
            <a:avLst/>
          </a:prstGeom>
          <a:ln w="20955">
            <a:solidFill>
              <a:srgbClr val="246A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916529" y="3092078"/>
            <a:ext cx="0" cy="3595702"/>
          </a:xfrm>
          <a:prstGeom prst="line">
            <a:avLst/>
          </a:prstGeom>
          <a:ln w="20955">
            <a:solidFill>
              <a:srgbClr val="246A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916529" y="6687780"/>
            <a:ext cx="1108534" cy="0"/>
          </a:xfrm>
          <a:prstGeom prst="line">
            <a:avLst/>
          </a:prstGeom>
          <a:ln w="20955">
            <a:solidFill>
              <a:srgbClr val="246A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Isosceles Triangle 45"/>
          <p:cNvSpPr/>
          <p:nvPr/>
        </p:nvSpPr>
        <p:spPr>
          <a:xfrm rot="5400000">
            <a:off x="12041944" y="6637137"/>
            <a:ext cx="106914" cy="101287"/>
          </a:xfrm>
          <a:prstGeom prst="triangle">
            <a:avLst/>
          </a:prstGeom>
          <a:solidFill>
            <a:srgbClr val="246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12267027" y="5489213"/>
            <a:ext cx="95661" cy="0"/>
          </a:xfrm>
          <a:prstGeom prst="line">
            <a:avLst/>
          </a:prstGeom>
          <a:ln w="20955">
            <a:solidFill>
              <a:srgbClr val="246A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12013809" y="5489213"/>
            <a:ext cx="348879" cy="1198567"/>
          </a:xfrm>
          <a:prstGeom prst="line">
            <a:avLst/>
          </a:prstGeom>
          <a:ln w="20955">
            <a:solidFill>
              <a:srgbClr val="246A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Isosceles Triangle 48"/>
          <p:cNvSpPr/>
          <p:nvPr/>
        </p:nvSpPr>
        <p:spPr>
          <a:xfrm rot="5400000">
            <a:off x="12030690" y="6637137"/>
            <a:ext cx="106914" cy="101287"/>
          </a:xfrm>
          <a:prstGeom prst="triangle">
            <a:avLst/>
          </a:prstGeom>
          <a:solidFill>
            <a:srgbClr val="246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879443" y="1454599"/>
            <a:ext cx="1659987" cy="934094"/>
          </a:xfrm>
          <a:prstGeom prst="roundRect">
            <a:avLst>
              <a:gd name="adj" fmla="val 10000"/>
            </a:avLst>
          </a:prstGeom>
          <a:solidFill>
            <a:srgbClr val="DF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856935" y="1426464"/>
            <a:ext cx="1659987" cy="93409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C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958222" y="1539005"/>
            <a:ext cx="1468667" cy="393895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1050" b="1">
                <a:solidFill>
                  <a:srgbClr val="14273E"/>
                </a:solidFill>
                <a:latin typeface="DejaVu Sans"/>
              </a:rPr>
              <a:t>01  Customer visit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58222" y="1871003"/>
            <a:ext cx="1474294" cy="472674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819" b="0">
                <a:solidFill>
                  <a:srgbClr val="586D84"/>
                </a:solidFill>
                <a:latin typeface="DejaVu Sans"/>
              </a:rPr>
              <a:t>Order and customer details captured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017732" y="1454599"/>
            <a:ext cx="1828800" cy="934094"/>
          </a:xfrm>
          <a:prstGeom prst="roundRect">
            <a:avLst>
              <a:gd name="adj" fmla="val 10000"/>
            </a:avLst>
          </a:prstGeom>
          <a:solidFill>
            <a:srgbClr val="DF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3995224" y="1426464"/>
            <a:ext cx="1828800" cy="934094"/>
          </a:xfrm>
          <a:prstGeom prst="roundRect">
            <a:avLst>
              <a:gd name="adj" fmla="val 10000"/>
            </a:avLst>
          </a:prstGeom>
          <a:solidFill>
            <a:srgbClr val="FCEEEF"/>
          </a:solidFill>
          <a:ln w="12700">
            <a:solidFill>
              <a:srgbClr val="DF9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096512" y="1539005"/>
            <a:ext cx="1637479" cy="393895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1050" b="1">
                <a:solidFill>
                  <a:srgbClr val="14273E"/>
                </a:solidFill>
                <a:latin typeface="DejaVu Sans"/>
              </a:rPr>
              <a:t>02  Order entry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96512" y="1871003"/>
            <a:ext cx="1643106" cy="472674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819" b="0">
                <a:solidFill>
                  <a:srgbClr val="586D84"/>
                </a:solidFill>
                <a:latin typeface="DejaVu Sans"/>
              </a:rPr>
              <a:t>CRM and supporting records may differ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549917" y="1454599"/>
            <a:ext cx="1744393" cy="934094"/>
          </a:xfrm>
          <a:prstGeom prst="roundRect">
            <a:avLst>
              <a:gd name="adj" fmla="val 10000"/>
            </a:avLst>
          </a:prstGeom>
          <a:solidFill>
            <a:srgbClr val="DF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527409" y="1426464"/>
            <a:ext cx="1744393" cy="93409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C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28696" y="1539005"/>
            <a:ext cx="1553073" cy="393895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1050" b="1">
                <a:solidFill>
                  <a:srgbClr val="14273E"/>
                </a:solidFill>
                <a:latin typeface="DejaVu Sans"/>
              </a:rPr>
              <a:t>03  Payment evidence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28696" y="1871003"/>
            <a:ext cx="1558700" cy="472674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819" b="0">
                <a:solidFill>
                  <a:srgbClr val="586D84"/>
                </a:solidFill>
                <a:latin typeface="DejaVu Sans"/>
              </a:rPr>
              <a:t>Receipt or transfer proof shared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549917" y="2653166"/>
            <a:ext cx="1744393" cy="934094"/>
          </a:xfrm>
          <a:prstGeom prst="roundRect">
            <a:avLst>
              <a:gd name="adj" fmla="val 10000"/>
            </a:avLst>
          </a:prstGeom>
          <a:solidFill>
            <a:srgbClr val="DF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527409" y="2625031"/>
            <a:ext cx="1744393" cy="934094"/>
          </a:xfrm>
          <a:prstGeom prst="roundRect">
            <a:avLst>
              <a:gd name="adj" fmla="val 10000"/>
            </a:avLst>
          </a:prstGeom>
          <a:solidFill>
            <a:srgbClr val="FCEEEF"/>
          </a:solidFill>
          <a:ln w="12700">
            <a:solidFill>
              <a:srgbClr val="DF9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28696" y="2737572"/>
            <a:ext cx="1553073" cy="393895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1050" b="1">
                <a:solidFill>
                  <a:srgbClr val="14273E"/>
                </a:solidFill>
                <a:latin typeface="DejaVu Sans"/>
              </a:rPr>
              <a:t>04  Stock dispatch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28696" y="3069570"/>
            <a:ext cx="1558700" cy="472674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819" b="0">
                <a:solidFill>
                  <a:srgbClr val="586D84"/>
                </a:solidFill>
                <a:latin typeface="DejaVu Sans"/>
              </a:rPr>
              <a:t>Movement recorded separately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688206" y="2653166"/>
            <a:ext cx="1913206" cy="934094"/>
          </a:xfrm>
          <a:prstGeom prst="roundRect">
            <a:avLst>
              <a:gd name="adj" fmla="val 10000"/>
            </a:avLst>
          </a:prstGeom>
          <a:solidFill>
            <a:srgbClr val="DF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8665698" y="2625031"/>
            <a:ext cx="1913206" cy="934094"/>
          </a:xfrm>
          <a:prstGeom prst="roundRect">
            <a:avLst>
              <a:gd name="adj" fmla="val 10000"/>
            </a:avLst>
          </a:prstGeom>
          <a:solidFill>
            <a:srgbClr val="FCEEEF"/>
          </a:solidFill>
          <a:ln w="12700">
            <a:solidFill>
              <a:srgbClr val="DF9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66985" y="2737572"/>
            <a:ext cx="1721885" cy="393895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1050" b="1">
                <a:solidFill>
                  <a:srgbClr val="14273E"/>
                </a:solidFill>
                <a:latin typeface="DejaVu Sans"/>
              </a:rPr>
              <a:t>05  Delivery follow-up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66985" y="3069570"/>
            <a:ext cx="1727512" cy="472674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819" b="0">
                <a:solidFill>
                  <a:srgbClr val="586D84"/>
                </a:solidFill>
                <a:latin typeface="DejaVu Sans"/>
              </a:rPr>
              <a:t>Receipt / stock owner not always reconciled promptly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688206" y="3851734"/>
            <a:ext cx="1856935" cy="934094"/>
          </a:xfrm>
          <a:prstGeom prst="roundRect">
            <a:avLst>
              <a:gd name="adj" fmla="val 10000"/>
            </a:avLst>
          </a:prstGeom>
          <a:solidFill>
            <a:srgbClr val="DF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8665698" y="3823598"/>
            <a:ext cx="1856935" cy="934094"/>
          </a:xfrm>
          <a:prstGeom prst="roundRect">
            <a:avLst>
              <a:gd name="adj" fmla="val 10000"/>
            </a:avLst>
          </a:prstGeom>
          <a:solidFill>
            <a:srgbClr val="FCEEEF"/>
          </a:solidFill>
          <a:ln w="12700">
            <a:solidFill>
              <a:srgbClr val="DF9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766985" y="3936140"/>
            <a:ext cx="1665614" cy="393895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1050" b="1">
                <a:solidFill>
                  <a:srgbClr val="14273E"/>
                </a:solidFill>
                <a:latin typeface="DejaVu Sans"/>
              </a:rPr>
              <a:t>06  Cash handover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766985" y="4268137"/>
            <a:ext cx="1671241" cy="472674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819" b="0">
                <a:solidFill>
                  <a:srgbClr val="586D84"/>
                </a:solidFill>
                <a:latin typeface="DejaVu Sans"/>
              </a:rPr>
              <a:t>Cash record may need separate confirmation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432600" y="5050301"/>
            <a:ext cx="1856935" cy="934094"/>
          </a:xfrm>
          <a:prstGeom prst="roundRect">
            <a:avLst>
              <a:gd name="adj" fmla="val 10000"/>
            </a:avLst>
          </a:prstGeom>
          <a:solidFill>
            <a:srgbClr val="DF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10410092" y="5022166"/>
            <a:ext cx="1856935" cy="93409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C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511379" y="5134707"/>
            <a:ext cx="1665614" cy="393895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1050" b="1">
                <a:solidFill>
                  <a:srgbClr val="14273E"/>
                </a:solidFill>
                <a:latin typeface="DejaVu Sans"/>
              </a:rPr>
              <a:t>07  Banking check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511379" y="5466705"/>
            <a:ext cx="1671241" cy="472674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819" b="0">
                <a:solidFill>
                  <a:srgbClr val="586D84"/>
                </a:solidFill>
                <a:latin typeface="DejaVu Sans"/>
              </a:rPr>
              <a:t>Bank entries and collection logs compared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2120723" y="6248868"/>
            <a:ext cx="2110153" cy="934094"/>
          </a:xfrm>
          <a:prstGeom prst="roundRect">
            <a:avLst>
              <a:gd name="adj" fmla="val 10000"/>
            </a:avLst>
          </a:prstGeom>
          <a:solidFill>
            <a:srgbClr val="DF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12098215" y="6220733"/>
            <a:ext cx="2110153" cy="934094"/>
          </a:xfrm>
          <a:prstGeom prst="roundRect">
            <a:avLst>
              <a:gd name="adj" fmla="val 10000"/>
            </a:avLst>
          </a:prstGeom>
          <a:solidFill>
            <a:srgbClr val="FCEEEF"/>
          </a:solidFill>
          <a:ln w="12700">
            <a:solidFill>
              <a:srgbClr val="DF9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2199502" y="6333275"/>
            <a:ext cx="1918833" cy="393895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1050" b="1">
                <a:solidFill>
                  <a:srgbClr val="14273E"/>
                </a:solidFill>
                <a:latin typeface="DejaVu Sans"/>
              </a:rPr>
              <a:t>08  Reconcile &amp; investigate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199502" y="6665272"/>
            <a:ext cx="1924460" cy="472674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819" b="0">
                <a:solidFill>
                  <a:srgbClr val="586D84"/>
                </a:solidFill>
                <a:latin typeface="DejaVu Sans"/>
              </a:rPr>
              <a:t>Manual order / payment / stock checks; report variances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93895" y="7410860"/>
            <a:ext cx="13842609" cy="472674"/>
          </a:xfrm>
          <a:prstGeom prst="roundRect">
            <a:avLst>
              <a:gd name="adj" fmla="val 10000"/>
            </a:avLst>
          </a:prstGeom>
          <a:solidFill>
            <a:srgbClr val="EDF5FC"/>
          </a:solidFill>
          <a:ln w="7620">
            <a:solidFill>
              <a:srgbClr val="C5D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34572" y="7534656"/>
            <a:ext cx="13533120" cy="292608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1040" b="1">
                <a:solidFill>
                  <a:srgbClr val="246AA3"/>
                </a:solidFill>
                <a:latin typeface="DejaVu Sans"/>
              </a:rPr>
              <a:t>COMMON GAPS     Inconsistent records  /  delayed receiving confirmation  /  manual payment matching  /  weak adjustment traceability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93895" y="8164888"/>
            <a:ext cx="13842609" cy="185693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790" b="0">
                <a:solidFill>
                  <a:srgbClr val="586D84"/>
                </a:solidFill>
                <a:latin typeface="DejaVu Sans"/>
              </a:rPr>
              <a:t>Interpretation: this As-Is map is reconstructed from reported exceptions and control gaps; specific legacy steps need stakeholder validation.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8779"/>
          </a:xfrm>
          <a:prstGeom prst="rect">
            <a:avLst/>
          </a:prstGeom>
          <a:solidFill>
            <a:srgbClr val="246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05149" y="298235"/>
            <a:ext cx="2363372" cy="253218"/>
          </a:xfrm>
          <a:prstGeom prst="roundRect">
            <a:avLst>
              <a:gd name="adj" fmla="val 10000"/>
            </a:avLst>
          </a:prstGeom>
          <a:solidFill>
            <a:srgbClr val="E6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2674" y="365760"/>
            <a:ext cx="2813538" cy="202574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1050" b="1">
                <a:solidFill>
                  <a:srgbClr val="167D71"/>
                </a:solidFill>
                <a:latin typeface="DejaVu Sans"/>
              </a:rPr>
              <a:t>TO-BE / PROPOSED V0.2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895" y="635859"/>
            <a:ext cx="13758203" cy="337624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2600" b="1">
                <a:solidFill>
                  <a:srgbClr val="14273E"/>
                </a:solidFill>
                <a:latin typeface="DejaVu Sans"/>
              </a:rPr>
              <a:t>CRM Order-to-Cash - Cross-functional Swimlane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895" y="1007246"/>
            <a:ext cx="13504984" cy="253218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1010" b="0">
                <a:solidFill>
                  <a:srgbClr val="586D84"/>
                </a:solidFill>
                <a:latin typeface="DejaVu Sans"/>
              </a:rPr>
              <a:t>Proposed controls, approvals and audit trail. CRM development and adoption are not represented as completed.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895" y="1294227"/>
            <a:ext cx="13842609" cy="1012873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3895" y="1294227"/>
            <a:ext cx="1198567" cy="1012873"/>
          </a:xfrm>
          <a:prstGeom prst="roundRect">
            <a:avLst>
              <a:gd name="adj" fmla="val 10000"/>
            </a:avLst>
          </a:prstGeom>
          <a:solidFill>
            <a:srgbClr val="E0E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567140"/>
            <a:ext cx="984738" cy="483928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1120" b="1">
                <a:solidFill>
                  <a:srgbClr val="14273E"/>
                </a:solidFill>
                <a:latin typeface="DejaVu Sans"/>
              </a:rPr>
              <a:t>Sales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895" y="2335236"/>
            <a:ext cx="13842609" cy="1012873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93895" y="2335236"/>
            <a:ext cx="1198567" cy="1012873"/>
          </a:xfrm>
          <a:prstGeom prst="roundRect">
            <a:avLst>
              <a:gd name="adj" fmla="val 10000"/>
            </a:avLst>
          </a:prstGeom>
          <a:solidFill>
            <a:srgbClr val="E0E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2608150"/>
            <a:ext cx="984738" cy="483928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1120" b="1">
                <a:solidFill>
                  <a:srgbClr val="14273E"/>
                </a:solidFill>
                <a:latin typeface="DejaVu Sans"/>
              </a:rPr>
              <a:t>CRM / System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895" y="3376246"/>
            <a:ext cx="13842609" cy="1012873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3895" y="3376246"/>
            <a:ext cx="1198567" cy="1012873"/>
          </a:xfrm>
          <a:prstGeom prst="roundRect">
            <a:avLst>
              <a:gd name="adj" fmla="val 10000"/>
            </a:avLst>
          </a:prstGeom>
          <a:solidFill>
            <a:srgbClr val="E0E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649159"/>
            <a:ext cx="984738" cy="483928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1120" b="1">
                <a:solidFill>
                  <a:srgbClr val="14273E"/>
                </a:solidFill>
                <a:latin typeface="DejaVu Sans"/>
              </a:rPr>
              <a:t>Sales Operations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3895" y="4417255"/>
            <a:ext cx="13842609" cy="1012873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93895" y="4417255"/>
            <a:ext cx="1198567" cy="1012873"/>
          </a:xfrm>
          <a:prstGeom prst="roundRect">
            <a:avLst>
              <a:gd name="adj" fmla="val 10000"/>
            </a:avLst>
          </a:prstGeom>
          <a:solidFill>
            <a:srgbClr val="E0E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" y="4690168"/>
            <a:ext cx="984738" cy="483928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1120" b="1">
                <a:solidFill>
                  <a:srgbClr val="14273E"/>
                </a:solidFill>
                <a:latin typeface="DejaVu Sans"/>
              </a:rPr>
              <a:t>Cash Receiver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3895" y="5458264"/>
            <a:ext cx="13842609" cy="1012873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93895" y="5458264"/>
            <a:ext cx="1198567" cy="1012873"/>
          </a:xfrm>
          <a:prstGeom prst="roundRect">
            <a:avLst>
              <a:gd name="adj" fmla="val 10000"/>
            </a:avLst>
          </a:prstGeom>
          <a:solidFill>
            <a:srgbClr val="E0E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5731177"/>
            <a:ext cx="984738" cy="483928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1120" b="1">
                <a:solidFill>
                  <a:srgbClr val="14273E"/>
                </a:solidFill>
                <a:latin typeface="DejaVu Sans"/>
              </a:rPr>
              <a:t>Finance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3895" y="6499273"/>
            <a:ext cx="13842609" cy="1012873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93895" y="6499273"/>
            <a:ext cx="1198567" cy="1012873"/>
          </a:xfrm>
          <a:prstGeom prst="roundRect">
            <a:avLst>
              <a:gd name="adj" fmla="val 10000"/>
            </a:avLst>
          </a:prstGeom>
          <a:solidFill>
            <a:srgbClr val="E0E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" y="6772187"/>
            <a:ext cx="984738" cy="483928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1120" b="1">
                <a:solidFill>
                  <a:srgbClr val="14273E"/>
                </a:solidFill>
                <a:latin typeface="DejaVu Sans"/>
              </a:rPr>
              <a:t>Authorised Approver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488787" y="1814732"/>
            <a:ext cx="95661" cy="0"/>
          </a:xfrm>
          <a:prstGeom prst="line">
            <a:avLst/>
          </a:prstGeom>
          <a:ln w="20955">
            <a:solidFill>
              <a:srgbClr val="246A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3516923" y="1814732"/>
            <a:ext cx="67525" cy="1041009"/>
          </a:xfrm>
          <a:prstGeom prst="line">
            <a:avLst/>
          </a:prstGeom>
          <a:ln w="20955">
            <a:solidFill>
              <a:srgbClr val="246A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3533804" y="2805097"/>
            <a:ext cx="106914" cy="101287"/>
          </a:xfrm>
          <a:prstGeom prst="triangle">
            <a:avLst/>
          </a:prstGeom>
          <a:solidFill>
            <a:srgbClr val="246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5373858" y="2855741"/>
            <a:ext cx="95660" cy="0"/>
          </a:xfrm>
          <a:prstGeom prst="line">
            <a:avLst/>
          </a:prstGeom>
          <a:ln w="20955">
            <a:solidFill>
              <a:srgbClr val="246A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469518" y="2855741"/>
            <a:ext cx="101288" cy="1041009"/>
          </a:xfrm>
          <a:prstGeom prst="line">
            <a:avLst/>
          </a:prstGeom>
          <a:ln w="20955">
            <a:solidFill>
              <a:srgbClr val="246A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5587687" y="3846107"/>
            <a:ext cx="106914" cy="101287"/>
          </a:xfrm>
          <a:prstGeom prst="triangle">
            <a:avLst/>
          </a:prstGeom>
          <a:solidFill>
            <a:srgbClr val="246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7315200" y="3896750"/>
            <a:ext cx="95660" cy="0"/>
          </a:xfrm>
          <a:prstGeom prst="line">
            <a:avLst/>
          </a:prstGeom>
          <a:ln w="20955">
            <a:solidFill>
              <a:srgbClr val="246A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7118252" y="2855741"/>
            <a:ext cx="292608" cy="1041009"/>
          </a:xfrm>
          <a:prstGeom prst="line">
            <a:avLst/>
          </a:prstGeom>
          <a:ln w="20955">
            <a:solidFill>
              <a:srgbClr val="246A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5400000">
            <a:off x="7135133" y="2805097"/>
            <a:ext cx="106914" cy="101287"/>
          </a:xfrm>
          <a:prstGeom prst="triangle">
            <a:avLst/>
          </a:prstGeom>
          <a:solidFill>
            <a:srgbClr val="246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8440615" y="2855741"/>
            <a:ext cx="95660" cy="0"/>
          </a:xfrm>
          <a:prstGeom prst="line">
            <a:avLst/>
          </a:prstGeom>
          <a:ln w="20955">
            <a:solidFill>
              <a:srgbClr val="167D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8074855" y="1814732"/>
            <a:ext cx="461420" cy="1041009"/>
          </a:xfrm>
          <a:prstGeom prst="line">
            <a:avLst/>
          </a:prstGeom>
          <a:ln w="20955">
            <a:solidFill>
              <a:srgbClr val="167D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Isosceles Triangle 35"/>
          <p:cNvSpPr/>
          <p:nvPr/>
        </p:nvSpPr>
        <p:spPr>
          <a:xfrm rot="5400000">
            <a:off x="8091736" y="1764088"/>
            <a:ext cx="106914" cy="101287"/>
          </a:xfrm>
          <a:prstGeom prst="triangle">
            <a:avLst/>
          </a:prstGeom>
          <a:solidFill>
            <a:srgbClr val="167D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8440615" y="2855741"/>
            <a:ext cx="95660" cy="0"/>
          </a:xfrm>
          <a:prstGeom prst="line">
            <a:avLst/>
          </a:prstGeom>
          <a:ln w="20955">
            <a:solidFill>
              <a:srgbClr val="B977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8131126" y="2855741"/>
            <a:ext cx="405149" cy="4164037"/>
          </a:xfrm>
          <a:prstGeom prst="line">
            <a:avLst/>
          </a:prstGeom>
          <a:ln w="20955">
            <a:solidFill>
              <a:srgbClr val="B977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Isosceles Triangle 38"/>
          <p:cNvSpPr/>
          <p:nvPr/>
        </p:nvSpPr>
        <p:spPr>
          <a:xfrm rot="5400000">
            <a:off x="8148007" y="6969134"/>
            <a:ext cx="106914" cy="101287"/>
          </a:xfrm>
          <a:prstGeom prst="triangle">
            <a:avLst/>
          </a:prstGeom>
          <a:solidFill>
            <a:srgbClr val="B97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9678572" y="1814732"/>
            <a:ext cx="95660" cy="0"/>
          </a:xfrm>
          <a:prstGeom prst="line">
            <a:avLst/>
          </a:prstGeom>
          <a:ln w="20955">
            <a:solidFill>
              <a:srgbClr val="167D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774232" y="1814732"/>
            <a:ext cx="45017" cy="3123028"/>
          </a:xfrm>
          <a:prstGeom prst="line">
            <a:avLst/>
          </a:prstGeom>
          <a:ln w="20955">
            <a:solidFill>
              <a:srgbClr val="167D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Isosceles Triangle 41"/>
          <p:cNvSpPr/>
          <p:nvPr/>
        </p:nvSpPr>
        <p:spPr>
          <a:xfrm rot="5400000">
            <a:off x="9836130" y="4887116"/>
            <a:ext cx="106914" cy="101287"/>
          </a:xfrm>
          <a:prstGeom prst="triangle">
            <a:avLst/>
          </a:prstGeom>
          <a:solidFill>
            <a:srgbClr val="167D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9678572" y="1814732"/>
            <a:ext cx="337624" cy="0"/>
          </a:xfrm>
          <a:prstGeom prst="line">
            <a:avLst/>
          </a:prstGeom>
          <a:ln w="20955">
            <a:solidFill>
              <a:srgbClr val="167D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016196" y="1814732"/>
            <a:ext cx="0" cy="4164037"/>
          </a:xfrm>
          <a:prstGeom prst="line">
            <a:avLst/>
          </a:prstGeom>
          <a:ln w="20955">
            <a:solidFill>
              <a:srgbClr val="167D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016196" y="5978769"/>
            <a:ext cx="1502430" cy="0"/>
          </a:xfrm>
          <a:prstGeom prst="line">
            <a:avLst/>
          </a:prstGeom>
          <a:ln w="20955">
            <a:solidFill>
              <a:srgbClr val="167D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Isosceles Triangle 45"/>
          <p:cNvSpPr/>
          <p:nvPr/>
        </p:nvSpPr>
        <p:spPr>
          <a:xfrm rot="5400000">
            <a:off x="11535507" y="5928125"/>
            <a:ext cx="106914" cy="101287"/>
          </a:xfrm>
          <a:prstGeom prst="triangle">
            <a:avLst/>
          </a:prstGeom>
          <a:solidFill>
            <a:srgbClr val="167D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11422966" y="4937760"/>
            <a:ext cx="95660" cy="0"/>
          </a:xfrm>
          <a:prstGeom prst="line">
            <a:avLst/>
          </a:prstGeom>
          <a:ln w="20955">
            <a:solidFill>
              <a:srgbClr val="167D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11507372" y="4937760"/>
            <a:ext cx="11254" cy="1041009"/>
          </a:xfrm>
          <a:prstGeom prst="line">
            <a:avLst/>
          </a:prstGeom>
          <a:ln w="20955">
            <a:solidFill>
              <a:srgbClr val="167D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Isosceles Triangle 48"/>
          <p:cNvSpPr/>
          <p:nvPr/>
        </p:nvSpPr>
        <p:spPr>
          <a:xfrm rot="5400000">
            <a:off x="11524253" y="5928125"/>
            <a:ext cx="106914" cy="101287"/>
          </a:xfrm>
          <a:prstGeom prst="triangle">
            <a:avLst/>
          </a:prstGeom>
          <a:solidFill>
            <a:srgbClr val="167D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10016196" y="7019778"/>
            <a:ext cx="337625" cy="0"/>
          </a:xfrm>
          <a:prstGeom prst="line">
            <a:avLst/>
          </a:prstGeom>
          <a:ln w="20955">
            <a:solidFill>
              <a:srgbClr val="B977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0353821" y="5978769"/>
            <a:ext cx="0" cy="1041009"/>
          </a:xfrm>
          <a:prstGeom prst="line">
            <a:avLst/>
          </a:prstGeom>
          <a:ln w="20955">
            <a:solidFill>
              <a:srgbClr val="B977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353821" y="5978769"/>
            <a:ext cx="1164805" cy="0"/>
          </a:xfrm>
          <a:prstGeom prst="line">
            <a:avLst/>
          </a:prstGeom>
          <a:ln w="20955">
            <a:solidFill>
              <a:srgbClr val="B977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Isosceles Triangle 52"/>
          <p:cNvSpPr/>
          <p:nvPr/>
        </p:nvSpPr>
        <p:spPr>
          <a:xfrm rot="5400000">
            <a:off x="11535507" y="5928125"/>
            <a:ext cx="106914" cy="101287"/>
          </a:xfrm>
          <a:prstGeom prst="triangle">
            <a:avLst/>
          </a:prstGeom>
          <a:solidFill>
            <a:srgbClr val="B97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13082953" y="5978769"/>
            <a:ext cx="95661" cy="0"/>
          </a:xfrm>
          <a:prstGeom prst="line">
            <a:avLst/>
          </a:prstGeom>
          <a:ln w="20955">
            <a:solidFill>
              <a:srgbClr val="167D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 flipV="1">
            <a:off x="13082953" y="2855741"/>
            <a:ext cx="95661" cy="3123028"/>
          </a:xfrm>
          <a:prstGeom prst="line">
            <a:avLst/>
          </a:prstGeom>
          <a:ln w="20955">
            <a:solidFill>
              <a:srgbClr val="167D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Isosceles Triangle 55"/>
          <p:cNvSpPr/>
          <p:nvPr/>
        </p:nvSpPr>
        <p:spPr>
          <a:xfrm rot="5400000">
            <a:off x="13099835" y="2805097"/>
            <a:ext cx="106914" cy="101287"/>
          </a:xfrm>
          <a:prstGeom prst="triangle">
            <a:avLst/>
          </a:prstGeom>
          <a:solidFill>
            <a:srgbClr val="167D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7315200" y="3896750"/>
            <a:ext cx="3809531" cy="0"/>
          </a:xfrm>
          <a:prstGeom prst="line">
            <a:avLst/>
          </a:prstGeom>
          <a:ln w="20955">
            <a:solidFill>
              <a:srgbClr val="C14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Isosceles Triangle 57"/>
          <p:cNvSpPr/>
          <p:nvPr/>
        </p:nvSpPr>
        <p:spPr>
          <a:xfrm rot="5400000">
            <a:off x="11141612" y="3846107"/>
            <a:ext cx="106914" cy="101287"/>
          </a:xfrm>
          <a:prstGeom prst="triangle">
            <a:avLst/>
          </a:prstGeom>
          <a:solidFill>
            <a:srgbClr val="C14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2773464" y="3896750"/>
            <a:ext cx="95660" cy="0"/>
          </a:xfrm>
          <a:prstGeom prst="line">
            <a:avLst/>
          </a:prstGeom>
          <a:ln w="20955">
            <a:solidFill>
              <a:srgbClr val="C14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2869124" y="3896750"/>
            <a:ext cx="16882" cy="3123028"/>
          </a:xfrm>
          <a:prstGeom prst="line">
            <a:avLst/>
          </a:prstGeom>
          <a:ln w="20955">
            <a:solidFill>
              <a:srgbClr val="C14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Isosceles Triangle 60"/>
          <p:cNvSpPr/>
          <p:nvPr/>
        </p:nvSpPr>
        <p:spPr>
          <a:xfrm rot="5400000">
            <a:off x="12902887" y="6969134"/>
            <a:ext cx="106914" cy="101287"/>
          </a:xfrm>
          <a:prstGeom prst="triangle">
            <a:avLst/>
          </a:prstGeom>
          <a:solidFill>
            <a:srgbClr val="C14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1851308" y="1375820"/>
            <a:ext cx="1659987" cy="934094"/>
          </a:xfrm>
          <a:prstGeom prst="roundRect">
            <a:avLst>
              <a:gd name="adj" fmla="val 10000"/>
            </a:avLst>
          </a:prstGeom>
          <a:solidFill>
            <a:srgbClr val="DF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1828800" y="1347684"/>
            <a:ext cx="1659987" cy="93409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C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930087" y="1460226"/>
            <a:ext cx="1468667" cy="393895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1050" b="1">
                <a:solidFill>
                  <a:srgbClr val="14273E"/>
                </a:solidFill>
                <a:latin typeface="DejaVu Sans"/>
              </a:rPr>
              <a:t>01  Visit &amp; sales order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930087" y="1792224"/>
            <a:ext cx="1474294" cy="472674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819" b="0">
                <a:solidFill>
                  <a:srgbClr val="586D84"/>
                </a:solidFill>
                <a:latin typeface="DejaVu Sans"/>
              </a:rPr>
              <a:t>Store, SKU, price, quantity, gifts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623837" y="2416829"/>
            <a:ext cx="1772529" cy="934094"/>
          </a:xfrm>
          <a:prstGeom prst="roundRect">
            <a:avLst>
              <a:gd name="adj" fmla="val 10000"/>
            </a:avLst>
          </a:prstGeom>
          <a:solidFill>
            <a:srgbClr val="DF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3601329" y="2388694"/>
            <a:ext cx="1772529" cy="934094"/>
          </a:xfrm>
          <a:prstGeom prst="roundRect">
            <a:avLst>
              <a:gd name="adj" fmla="val 10000"/>
            </a:avLst>
          </a:prstGeom>
          <a:solidFill>
            <a:srgbClr val="EDF5FC"/>
          </a:solidFill>
          <a:ln w="12700">
            <a:solidFill>
              <a:srgbClr val="A8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702616" y="2501235"/>
            <a:ext cx="1581208" cy="393895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1050" b="1">
                <a:solidFill>
                  <a:srgbClr val="14273E"/>
                </a:solidFill>
                <a:latin typeface="DejaVu Sans"/>
              </a:rPr>
              <a:t>02  Validate fields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702616" y="2833233"/>
            <a:ext cx="1586835" cy="472674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819" b="0">
                <a:solidFill>
                  <a:srgbClr val="586D84"/>
                </a:solidFill>
                <a:latin typeface="DejaVu Sans"/>
              </a:rPr>
              <a:t>Check required details and sales / region stock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677720" y="3457838"/>
            <a:ext cx="1659987" cy="934094"/>
          </a:xfrm>
          <a:prstGeom prst="roundRect">
            <a:avLst>
              <a:gd name="adj" fmla="val 10000"/>
            </a:avLst>
          </a:prstGeom>
          <a:solidFill>
            <a:srgbClr val="DF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5655212" y="3429703"/>
            <a:ext cx="1659987" cy="93409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C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756499" y="3542244"/>
            <a:ext cx="1468667" cy="393895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1050" b="1">
                <a:solidFill>
                  <a:srgbClr val="14273E"/>
                </a:solidFill>
                <a:latin typeface="DejaVu Sans"/>
              </a:rPr>
              <a:t>03  Verify order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56499" y="3874242"/>
            <a:ext cx="1474294" cy="472674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819" b="0">
                <a:solidFill>
                  <a:srgbClr val="586D84"/>
                </a:solidFill>
                <a:latin typeface="DejaVu Sans"/>
              </a:rPr>
              <a:t>Review amount, stock logic and supporting evidence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225166" y="2416829"/>
            <a:ext cx="1237956" cy="934094"/>
          </a:xfrm>
          <a:prstGeom prst="roundRect">
            <a:avLst>
              <a:gd name="adj" fmla="val 10000"/>
            </a:avLst>
          </a:prstGeom>
          <a:solidFill>
            <a:srgbClr val="DF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7202658" y="2388694"/>
            <a:ext cx="1237956" cy="93409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C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303945" y="2501235"/>
            <a:ext cx="1046636" cy="393895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1050" b="1">
                <a:solidFill>
                  <a:srgbClr val="14273E"/>
                </a:solidFill>
                <a:latin typeface="DejaVu Sans"/>
              </a:rPr>
              <a:t>04  Customer type?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03945" y="2833233"/>
            <a:ext cx="1052263" cy="472674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819" b="0">
                <a:solidFill>
                  <a:srgbClr val="586D84"/>
                </a:solidFill>
                <a:latin typeface="DejaVu Sans"/>
              </a:rPr>
              <a:t>Standard  /  Sub-distributor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181769" y="1375820"/>
            <a:ext cx="1519310" cy="934094"/>
          </a:xfrm>
          <a:prstGeom prst="roundRect">
            <a:avLst>
              <a:gd name="adj" fmla="val 10000"/>
            </a:avLst>
          </a:prstGeom>
          <a:solidFill>
            <a:srgbClr val="DF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8159261" y="1347684"/>
            <a:ext cx="1519310" cy="934094"/>
          </a:xfrm>
          <a:prstGeom prst="roundRect">
            <a:avLst>
              <a:gd name="adj" fmla="val 10000"/>
            </a:avLst>
          </a:prstGeom>
          <a:solidFill>
            <a:srgbClr val="E6F5F0"/>
          </a:solidFill>
          <a:ln w="12700">
            <a:solidFill>
              <a:srgbClr val="98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260548" y="1460226"/>
            <a:ext cx="1327990" cy="393895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1050" b="1">
                <a:solidFill>
                  <a:srgbClr val="14273E"/>
                </a:solidFill>
                <a:latin typeface="DejaVu Sans"/>
              </a:rPr>
              <a:t>05A  Standard payment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60548" y="1792224"/>
            <a:ext cx="1333617" cy="472674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819" b="0">
                <a:solidFill>
                  <a:srgbClr val="586D84"/>
                </a:solidFill>
                <a:latin typeface="DejaVu Sans"/>
              </a:rPr>
              <a:t>Bank / cash / split; attach evidence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926163" y="4498848"/>
            <a:ext cx="1519310" cy="934094"/>
          </a:xfrm>
          <a:prstGeom prst="roundRect">
            <a:avLst>
              <a:gd name="adj" fmla="val 10000"/>
            </a:avLst>
          </a:prstGeom>
          <a:solidFill>
            <a:srgbClr val="DF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9903655" y="4470712"/>
            <a:ext cx="1519310" cy="934094"/>
          </a:xfrm>
          <a:prstGeom prst="roundRect">
            <a:avLst>
              <a:gd name="adj" fmla="val 10000"/>
            </a:avLst>
          </a:prstGeom>
          <a:solidFill>
            <a:srgbClr val="E6F5F0"/>
          </a:solidFill>
          <a:ln w="12700">
            <a:solidFill>
              <a:srgbClr val="98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004942" y="4583254"/>
            <a:ext cx="1327990" cy="393895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1050" b="1">
                <a:solidFill>
                  <a:srgbClr val="14273E"/>
                </a:solidFill>
                <a:latin typeface="DejaVu Sans"/>
              </a:rPr>
              <a:t>06  Cash receipt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004942" y="4915251"/>
            <a:ext cx="1333617" cy="472674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819" b="0">
                <a:solidFill>
                  <a:srgbClr val="586D84"/>
                </a:solidFill>
                <a:latin typeface="DejaVu Sans"/>
              </a:rPr>
              <a:t>Receiver confirms actual cash handover, if applicable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1614286" y="5539857"/>
            <a:ext cx="1491175" cy="934094"/>
          </a:xfrm>
          <a:prstGeom prst="roundRect">
            <a:avLst>
              <a:gd name="adj" fmla="val 10000"/>
            </a:avLst>
          </a:prstGeom>
          <a:solidFill>
            <a:srgbClr val="DF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11591778" y="5511721"/>
            <a:ext cx="1491175" cy="934094"/>
          </a:xfrm>
          <a:prstGeom prst="roundRect">
            <a:avLst>
              <a:gd name="adj" fmla="val 10000"/>
            </a:avLst>
          </a:prstGeom>
          <a:solidFill>
            <a:srgbClr val="E6F5F0"/>
          </a:solidFill>
          <a:ln w="12700">
            <a:solidFill>
              <a:srgbClr val="98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1693065" y="5624263"/>
            <a:ext cx="1299854" cy="393895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1050" b="1">
                <a:solidFill>
                  <a:srgbClr val="14273E"/>
                </a:solidFill>
                <a:latin typeface="DejaVu Sans"/>
              </a:rPr>
              <a:t>07  Finance check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693065" y="5956260"/>
            <a:ext cx="1305481" cy="472674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819" b="0">
                <a:solidFill>
                  <a:srgbClr val="586D84"/>
                </a:solidFill>
                <a:latin typeface="DejaVu Sans"/>
              </a:rPr>
              <a:t>Confirm posted funds or establish approved SD receivable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3189868" y="2416829"/>
            <a:ext cx="1153550" cy="934094"/>
          </a:xfrm>
          <a:prstGeom prst="roundRect">
            <a:avLst>
              <a:gd name="adj" fmla="val 10000"/>
            </a:avLst>
          </a:prstGeom>
          <a:solidFill>
            <a:srgbClr val="DF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13167360" y="2388694"/>
            <a:ext cx="1153550" cy="934094"/>
          </a:xfrm>
          <a:prstGeom prst="roundRect">
            <a:avLst>
              <a:gd name="adj" fmla="val 10000"/>
            </a:avLst>
          </a:prstGeom>
          <a:solidFill>
            <a:srgbClr val="EDF5FC"/>
          </a:solidFill>
          <a:ln w="12700">
            <a:solidFill>
              <a:srgbClr val="A8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3268647" y="2501235"/>
            <a:ext cx="962230" cy="393895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1050" b="1">
                <a:solidFill>
                  <a:srgbClr val="14273E"/>
                </a:solidFill>
                <a:latin typeface="DejaVu Sans"/>
              </a:rPr>
              <a:t>09  Close gate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3268647" y="2833233"/>
            <a:ext cx="967857" cy="472674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819" b="0">
                <a:solidFill>
                  <a:srgbClr val="586D84"/>
                </a:solidFill>
                <a:latin typeface="DejaVu Sans"/>
              </a:rPr>
              <a:t>Close only after all controls pass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238040" y="6580866"/>
            <a:ext cx="1800664" cy="934094"/>
          </a:xfrm>
          <a:prstGeom prst="roundRect">
            <a:avLst>
              <a:gd name="adj" fmla="val 10000"/>
            </a:avLst>
          </a:prstGeom>
          <a:solidFill>
            <a:srgbClr val="DF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8215532" y="6552731"/>
            <a:ext cx="1800664" cy="934094"/>
          </a:xfrm>
          <a:prstGeom prst="roundRect">
            <a:avLst>
              <a:gd name="adj" fmla="val 10000"/>
            </a:avLst>
          </a:prstGeom>
          <a:solidFill>
            <a:srgbClr val="FFF3E2"/>
          </a:solidFill>
          <a:ln w="12700">
            <a:solidFill>
              <a:srgbClr val="DDB6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316819" y="6665272"/>
            <a:ext cx="1609344" cy="393895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1050" b="1">
                <a:solidFill>
                  <a:srgbClr val="14273E"/>
                </a:solidFill>
                <a:latin typeface="DejaVu Sans"/>
              </a:rPr>
              <a:t>05B  SD credit approval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316819" y="6997270"/>
            <a:ext cx="1614971" cy="472674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819" b="0">
                <a:solidFill>
                  <a:srgbClr val="586D84"/>
                </a:solidFill>
                <a:latin typeface="DejaVu Sans"/>
              </a:rPr>
              <a:t>Valid credit terms and due date; only SD eligible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1220391" y="3457838"/>
            <a:ext cx="1575581" cy="934094"/>
          </a:xfrm>
          <a:prstGeom prst="roundRect">
            <a:avLst>
              <a:gd name="adj" fmla="val 10000"/>
            </a:avLst>
          </a:prstGeom>
          <a:solidFill>
            <a:srgbClr val="DF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11197883" y="3429703"/>
            <a:ext cx="1575581" cy="934094"/>
          </a:xfrm>
          <a:prstGeom prst="roundRect">
            <a:avLst>
              <a:gd name="adj" fmla="val 10000"/>
            </a:avLst>
          </a:prstGeom>
          <a:solidFill>
            <a:srgbClr val="FCEEEF"/>
          </a:solidFill>
          <a:ln w="12700">
            <a:solidFill>
              <a:srgbClr val="E2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1299170" y="3542244"/>
            <a:ext cx="1384260" cy="393895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1050" b="1">
                <a:solidFill>
                  <a:srgbClr val="14273E"/>
                </a:solidFill>
                <a:latin typeface="DejaVu Sans"/>
              </a:rPr>
              <a:t>08  Flag exceptions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1299170" y="3874242"/>
            <a:ext cx="1389888" cy="472674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819" b="0">
                <a:solidFill>
                  <a:srgbClr val="586D84"/>
                </a:solidFill>
                <a:latin typeface="DejaVu Sans"/>
              </a:rPr>
              <a:t>Keep discrepancies open until reviewed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2992920" y="6580866"/>
            <a:ext cx="1322363" cy="934094"/>
          </a:xfrm>
          <a:prstGeom prst="roundRect">
            <a:avLst>
              <a:gd name="adj" fmla="val 10000"/>
            </a:avLst>
          </a:prstGeom>
          <a:solidFill>
            <a:srgbClr val="DF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12970412" y="6552731"/>
            <a:ext cx="1322363" cy="934094"/>
          </a:xfrm>
          <a:prstGeom prst="roundRect">
            <a:avLst>
              <a:gd name="adj" fmla="val 10000"/>
            </a:avLst>
          </a:prstGeom>
          <a:solidFill>
            <a:srgbClr val="FFF3E2"/>
          </a:solidFill>
          <a:ln w="12700">
            <a:solidFill>
              <a:srgbClr val="DDB6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3071699" y="6665272"/>
            <a:ext cx="1131042" cy="393895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1050" b="1">
                <a:solidFill>
                  <a:srgbClr val="14273E"/>
                </a:solidFill>
                <a:latin typeface="DejaVu Sans"/>
              </a:rPr>
              <a:t>Review / approve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3071699" y="6997270"/>
            <a:ext cx="1136669" cy="472674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819" b="0">
                <a:solidFill>
                  <a:srgbClr val="586D84"/>
                </a:solidFill>
                <a:latin typeface="DejaVu Sans"/>
              </a:rPr>
              <a:t>Authorised resolution with reason and history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393895" y="7664078"/>
            <a:ext cx="13842609" cy="472674"/>
          </a:xfrm>
          <a:prstGeom prst="roundRect">
            <a:avLst>
              <a:gd name="adj" fmla="val 10000"/>
            </a:avLst>
          </a:prstGeom>
          <a:solidFill>
            <a:srgbClr val="EDF5FC"/>
          </a:solidFill>
          <a:ln w="7620">
            <a:solidFill>
              <a:srgbClr val="C5D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34572" y="7787874"/>
            <a:ext cx="13533120" cy="292608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1040" b="1">
                <a:solidFill>
                  <a:srgbClr val="246AA3"/>
                </a:solidFill>
                <a:latin typeface="DejaVu Sans"/>
              </a:rPr>
              <a:t>CLOSE GATE     Complete fields  +  accurate stock  +  confirmed payment or valid SD terms  +  approved exceptions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93895" y="8164888"/>
            <a:ext cx="13842609" cy="185693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790" b="0">
                <a:solidFill>
                  <a:srgbClr val="586D84"/>
                </a:solidFill>
                <a:latin typeface="DejaVu Sans"/>
              </a:rPr>
              <a:t>Standard customers: payment confirmation required. Sub-distributors: business step may close under approved terms; A/R remains monitored.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8779"/>
          </a:xfrm>
          <a:prstGeom prst="rect">
            <a:avLst/>
          </a:prstGeom>
          <a:solidFill>
            <a:srgbClr val="246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05149" y="298235"/>
            <a:ext cx="2363372" cy="253218"/>
          </a:xfrm>
          <a:prstGeom prst="roundRect">
            <a:avLst>
              <a:gd name="adj" fmla="val 10000"/>
            </a:avLst>
          </a:prstGeom>
          <a:solidFill>
            <a:srgbClr val="E6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2674" y="365760"/>
            <a:ext cx="2813538" cy="202574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1050" b="1">
                <a:solidFill>
                  <a:srgbClr val="167D71"/>
                </a:solidFill>
                <a:latin typeface="DejaVu Sans"/>
              </a:rPr>
              <a:t>TO-BE / SUPPORTING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895" y="635859"/>
            <a:ext cx="13758203" cy="337624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2600" b="1">
                <a:solidFill>
                  <a:srgbClr val="14273E"/>
                </a:solidFill>
                <a:latin typeface="DejaVu Sans"/>
              </a:rPr>
              <a:t>Dispatch, Stock Transfer &amp; Exception Resolution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895" y="1007246"/>
            <a:ext cx="13504984" cy="253218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1010" b="0">
                <a:solidFill>
                  <a:srgbClr val="586D84"/>
                </a:solidFill>
                <a:latin typeface="DejaVu Sans"/>
              </a:rPr>
              <a:t>Proposed inventory separation: a dispatch is a stock movement, not a completed customer sale.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895" y="1373006"/>
            <a:ext cx="13842609" cy="1434904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3895" y="1373006"/>
            <a:ext cx="1198567" cy="1434904"/>
          </a:xfrm>
          <a:prstGeom prst="roundRect">
            <a:avLst>
              <a:gd name="adj" fmla="val 10000"/>
            </a:avLst>
          </a:prstGeom>
          <a:solidFill>
            <a:srgbClr val="E0E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856935"/>
            <a:ext cx="984738" cy="483928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1120" b="1">
                <a:solidFill>
                  <a:srgbClr val="14273E"/>
                </a:solidFill>
                <a:latin typeface="DejaVu Sans"/>
              </a:rPr>
              <a:t>Warehouse / Dispatcher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895" y="2836046"/>
            <a:ext cx="13842609" cy="1434904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93895" y="2836046"/>
            <a:ext cx="1198567" cy="1434904"/>
          </a:xfrm>
          <a:prstGeom prst="roundRect">
            <a:avLst>
              <a:gd name="adj" fmla="val 10000"/>
            </a:avLst>
          </a:prstGeom>
          <a:solidFill>
            <a:srgbClr val="E0E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3319975"/>
            <a:ext cx="984738" cy="483928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1120" b="1">
                <a:solidFill>
                  <a:srgbClr val="14273E"/>
                </a:solidFill>
                <a:latin typeface="DejaVu Sans"/>
              </a:rPr>
              <a:t>Sales / Area Manager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895" y="4299086"/>
            <a:ext cx="13842609" cy="1434904"/>
          </a:xfrm>
          <a:prstGeom prst="roundRect">
            <a:avLst>
              <a:gd name="adj" fmla="val 10000"/>
            </a:avLst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3895" y="4299086"/>
            <a:ext cx="1198567" cy="1434904"/>
          </a:xfrm>
          <a:prstGeom prst="roundRect">
            <a:avLst>
              <a:gd name="adj" fmla="val 10000"/>
            </a:avLst>
          </a:prstGeom>
          <a:solidFill>
            <a:srgbClr val="E0E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4783015"/>
            <a:ext cx="984738" cy="483928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1120" b="1">
                <a:solidFill>
                  <a:srgbClr val="14273E"/>
                </a:solidFill>
                <a:latin typeface="DejaVu Sans"/>
              </a:rPr>
              <a:t>CRM / System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3895" y="5762126"/>
            <a:ext cx="13842609" cy="1434904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93895" y="5762126"/>
            <a:ext cx="1198567" cy="1434904"/>
          </a:xfrm>
          <a:prstGeom prst="roundRect">
            <a:avLst>
              <a:gd name="adj" fmla="val 10000"/>
            </a:avLst>
          </a:prstGeom>
          <a:solidFill>
            <a:srgbClr val="E0E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" y="6246055"/>
            <a:ext cx="984738" cy="483928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1120" b="1">
                <a:solidFill>
                  <a:srgbClr val="14273E"/>
                </a:solidFill>
                <a:latin typeface="DejaVu Sans"/>
              </a:rPr>
              <a:t>Sales Ops / Approver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685735" y="2104526"/>
            <a:ext cx="742774" cy="0"/>
          </a:xfrm>
          <a:prstGeom prst="line">
            <a:avLst/>
          </a:prstGeom>
          <a:ln w="20955">
            <a:solidFill>
              <a:srgbClr val="246A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4445390" y="2053883"/>
            <a:ext cx="106914" cy="101287"/>
          </a:xfrm>
          <a:prstGeom prst="triangle">
            <a:avLst/>
          </a:prstGeom>
          <a:solidFill>
            <a:srgbClr val="246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330461" y="2104526"/>
            <a:ext cx="334248" cy="0"/>
          </a:xfrm>
          <a:prstGeom prst="line">
            <a:avLst/>
          </a:prstGeom>
          <a:ln w="20955">
            <a:solidFill>
              <a:srgbClr val="246A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664709" y="2104526"/>
            <a:ext cx="0" cy="1463040"/>
          </a:xfrm>
          <a:prstGeom prst="line">
            <a:avLst/>
          </a:prstGeom>
          <a:ln w="20955">
            <a:solidFill>
              <a:srgbClr val="246A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664709" y="3567566"/>
            <a:ext cx="521068" cy="0"/>
          </a:xfrm>
          <a:prstGeom prst="line">
            <a:avLst/>
          </a:prstGeom>
          <a:ln w="20955">
            <a:solidFill>
              <a:srgbClr val="246A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7202658" y="3516923"/>
            <a:ext cx="106914" cy="101287"/>
          </a:xfrm>
          <a:prstGeom prst="triangle">
            <a:avLst/>
          </a:prstGeom>
          <a:solidFill>
            <a:srgbClr val="246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9172135" y="3567566"/>
            <a:ext cx="273476" cy="0"/>
          </a:xfrm>
          <a:prstGeom prst="line">
            <a:avLst/>
          </a:prstGeom>
          <a:ln w="20955">
            <a:solidFill>
              <a:srgbClr val="167D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45611" y="3567566"/>
            <a:ext cx="0" cy="1463040"/>
          </a:xfrm>
          <a:prstGeom prst="line">
            <a:avLst/>
          </a:prstGeom>
          <a:ln w="20955">
            <a:solidFill>
              <a:srgbClr val="167D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445611" y="5030606"/>
            <a:ext cx="413027" cy="0"/>
          </a:xfrm>
          <a:prstGeom prst="line">
            <a:avLst/>
          </a:prstGeom>
          <a:ln w="20955">
            <a:solidFill>
              <a:srgbClr val="167D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9875520" y="4979963"/>
            <a:ext cx="106914" cy="101287"/>
          </a:xfrm>
          <a:prstGeom prst="triangle">
            <a:avLst/>
          </a:prstGeom>
          <a:solidFill>
            <a:srgbClr val="167D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11901267" y="5030606"/>
            <a:ext cx="517691" cy="0"/>
          </a:xfrm>
          <a:prstGeom prst="line">
            <a:avLst/>
          </a:prstGeom>
          <a:ln w="20955">
            <a:solidFill>
              <a:srgbClr val="167D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12435840" y="4979963"/>
            <a:ext cx="106914" cy="101287"/>
          </a:xfrm>
          <a:prstGeom prst="triangle">
            <a:avLst/>
          </a:prstGeom>
          <a:solidFill>
            <a:srgbClr val="167D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9172135" y="3567566"/>
            <a:ext cx="222832" cy="0"/>
          </a:xfrm>
          <a:prstGeom prst="line">
            <a:avLst/>
          </a:prstGeom>
          <a:ln w="20955">
            <a:solidFill>
              <a:srgbClr val="C14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394967" y="3567566"/>
            <a:ext cx="0" cy="2926080"/>
          </a:xfrm>
          <a:prstGeom prst="line">
            <a:avLst/>
          </a:prstGeom>
          <a:ln w="20955">
            <a:solidFill>
              <a:srgbClr val="C14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394967" y="6493646"/>
            <a:ext cx="322994" cy="0"/>
          </a:xfrm>
          <a:prstGeom prst="line">
            <a:avLst/>
          </a:prstGeom>
          <a:ln w="20955">
            <a:solidFill>
              <a:srgbClr val="C14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Isosceles Triangle 33"/>
          <p:cNvSpPr/>
          <p:nvPr/>
        </p:nvSpPr>
        <p:spPr>
          <a:xfrm rot="5400000">
            <a:off x="9734843" y="6443003"/>
            <a:ext cx="106914" cy="101287"/>
          </a:xfrm>
          <a:prstGeom prst="triangle">
            <a:avLst/>
          </a:prstGeom>
          <a:solidFill>
            <a:srgbClr val="C14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11648049" y="6493646"/>
            <a:ext cx="405149" cy="0"/>
          </a:xfrm>
          <a:prstGeom prst="line">
            <a:avLst/>
          </a:prstGeom>
          <a:ln w="20955">
            <a:solidFill>
              <a:srgbClr val="C14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Isosceles Triangle 35"/>
          <p:cNvSpPr/>
          <p:nvPr/>
        </p:nvSpPr>
        <p:spPr>
          <a:xfrm rot="5400000">
            <a:off x="12070080" y="6443003"/>
            <a:ext cx="106914" cy="101287"/>
          </a:xfrm>
          <a:prstGeom prst="triangle">
            <a:avLst/>
          </a:prstGeom>
          <a:solidFill>
            <a:srgbClr val="C14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879443" y="1665614"/>
            <a:ext cx="1828800" cy="934094"/>
          </a:xfrm>
          <a:prstGeom prst="roundRect">
            <a:avLst>
              <a:gd name="adj" fmla="val 10000"/>
            </a:avLst>
          </a:prstGeom>
          <a:solidFill>
            <a:srgbClr val="DF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856935" y="1637479"/>
            <a:ext cx="1828800" cy="93409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C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58222" y="1750020"/>
            <a:ext cx="1637479" cy="393895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1050" b="1">
                <a:solidFill>
                  <a:srgbClr val="14273E"/>
                </a:solidFill>
                <a:latin typeface="DejaVu Sans"/>
              </a:rPr>
              <a:t>01  Create dispatch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58222" y="2082018"/>
            <a:ext cx="1643106" cy="472674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819" b="0">
                <a:solidFill>
                  <a:srgbClr val="586D84"/>
                </a:solidFill>
                <a:latin typeface="DejaVu Sans"/>
              </a:rPr>
              <a:t>Source stock, recipient, SKU, flavour and quantity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24169" y="1665614"/>
            <a:ext cx="1828800" cy="934094"/>
          </a:xfrm>
          <a:prstGeom prst="roundRect">
            <a:avLst>
              <a:gd name="adj" fmla="val 10000"/>
            </a:avLst>
          </a:prstGeom>
          <a:solidFill>
            <a:srgbClr val="DF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501661" y="1637479"/>
            <a:ext cx="1828800" cy="93409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C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02948" y="1750020"/>
            <a:ext cx="1637479" cy="393895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1050" b="1">
                <a:solidFill>
                  <a:srgbClr val="14273E"/>
                </a:solidFill>
                <a:latin typeface="DejaVu Sans"/>
              </a:rPr>
              <a:t>02  Release / in transit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2948" y="2082018"/>
            <a:ext cx="1643106" cy="472674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819" b="0">
                <a:solidFill>
                  <a:srgbClr val="586D84"/>
                </a:solidFill>
                <a:latin typeface="DejaVu Sans"/>
              </a:rPr>
              <a:t>Record date, documents and status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281437" y="3128654"/>
            <a:ext cx="1913206" cy="934094"/>
          </a:xfrm>
          <a:prstGeom prst="roundRect">
            <a:avLst>
              <a:gd name="adj" fmla="val 10000"/>
            </a:avLst>
          </a:prstGeom>
          <a:solidFill>
            <a:srgbClr val="DF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258929" y="3100519"/>
            <a:ext cx="1913206" cy="93409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C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60216" y="3213060"/>
            <a:ext cx="1721885" cy="393895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1050" b="1">
                <a:solidFill>
                  <a:srgbClr val="14273E"/>
                </a:solidFill>
                <a:latin typeface="DejaVu Sans"/>
              </a:rPr>
              <a:t>03  Check receipt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60216" y="3545058"/>
            <a:ext cx="1727512" cy="472674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819" b="0">
                <a:solidFill>
                  <a:srgbClr val="586D84"/>
                </a:solidFill>
                <a:latin typeface="DejaVu Sans"/>
              </a:rPr>
              <a:t>Receiver confirms physical SKU and quantity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954299" y="4591694"/>
            <a:ext cx="1969476" cy="934094"/>
          </a:xfrm>
          <a:prstGeom prst="roundRect">
            <a:avLst>
              <a:gd name="adj" fmla="val 10000"/>
            </a:avLst>
          </a:prstGeom>
          <a:solidFill>
            <a:srgbClr val="DF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931790" y="4563559"/>
            <a:ext cx="1969476" cy="934094"/>
          </a:xfrm>
          <a:prstGeom prst="roundRect">
            <a:avLst>
              <a:gd name="adj" fmla="val 10000"/>
            </a:avLst>
          </a:prstGeom>
          <a:solidFill>
            <a:srgbClr val="EDF5FC"/>
          </a:solidFill>
          <a:ln w="12700">
            <a:solidFill>
              <a:srgbClr val="A8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33078" y="4676100"/>
            <a:ext cx="1778156" cy="393895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1050" b="1">
                <a:solidFill>
                  <a:srgbClr val="14273E"/>
                </a:solidFill>
                <a:latin typeface="DejaVu Sans"/>
              </a:rPr>
              <a:t>04  Transfer stock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33078" y="5008098"/>
            <a:ext cx="1783783" cy="472674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819" b="0">
                <a:solidFill>
                  <a:srgbClr val="586D84"/>
                </a:solidFill>
                <a:latin typeface="DejaVu Sans"/>
              </a:rPr>
              <a:t>Update warehouse -&gt; region / salesperson stock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2514619" y="4591694"/>
            <a:ext cx="1969476" cy="934094"/>
          </a:xfrm>
          <a:prstGeom prst="roundRect">
            <a:avLst>
              <a:gd name="adj" fmla="val 10000"/>
            </a:avLst>
          </a:prstGeom>
          <a:solidFill>
            <a:srgbClr val="DF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2492110" y="4563559"/>
            <a:ext cx="1969476" cy="934094"/>
          </a:xfrm>
          <a:prstGeom prst="roundRect">
            <a:avLst>
              <a:gd name="adj" fmla="val 10000"/>
            </a:avLst>
          </a:prstGeom>
          <a:solidFill>
            <a:srgbClr val="EDF5FC"/>
          </a:solidFill>
          <a:ln w="12700">
            <a:solidFill>
              <a:srgbClr val="A8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593398" y="4676100"/>
            <a:ext cx="1778156" cy="393895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1050" b="1">
                <a:solidFill>
                  <a:srgbClr val="14273E"/>
                </a:solidFill>
                <a:latin typeface="DejaVu Sans"/>
              </a:rPr>
              <a:t>05  Customer sale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593398" y="5008098"/>
            <a:ext cx="1783783" cy="472674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819" b="0">
                <a:solidFill>
                  <a:srgbClr val="586D84"/>
                </a:solidFill>
                <a:latin typeface="DejaVu Sans"/>
              </a:rPr>
              <a:t>Deduct sales stock on order; never count dispatch as a sale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813622" y="6054734"/>
            <a:ext cx="1856935" cy="934094"/>
          </a:xfrm>
          <a:prstGeom prst="roundRect">
            <a:avLst>
              <a:gd name="adj" fmla="val 10000"/>
            </a:avLst>
          </a:prstGeom>
          <a:solidFill>
            <a:srgbClr val="DF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9791113" y="6026599"/>
            <a:ext cx="1856935" cy="934094"/>
          </a:xfrm>
          <a:prstGeom prst="roundRect">
            <a:avLst>
              <a:gd name="adj" fmla="val 10000"/>
            </a:avLst>
          </a:prstGeom>
          <a:solidFill>
            <a:srgbClr val="FCEEEF"/>
          </a:solidFill>
          <a:ln w="12700">
            <a:solidFill>
              <a:srgbClr val="E2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892401" y="6139140"/>
            <a:ext cx="1665614" cy="393895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1050" b="1">
                <a:solidFill>
                  <a:srgbClr val="14273E"/>
                </a:solidFill>
                <a:latin typeface="DejaVu Sans"/>
              </a:rPr>
              <a:t>Mismatch / adjustment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92401" y="6471138"/>
            <a:ext cx="1671241" cy="472674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819" b="0">
                <a:solidFill>
                  <a:srgbClr val="586D84"/>
                </a:solidFill>
                <a:latin typeface="DejaVu Sans"/>
              </a:rPr>
              <a:t>Open an issue with reason and evidence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2148859" y="6054734"/>
            <a:ext cx="2194560" cy="934094"/>
          </a:xfrm>
          <a:prstGeom prst="roundRect">
            <a:avLst>
              <a:gd name="adj" fmla="val 10000"/>
            </a:avLst>
          </a:prstGeom>
          <a:solidFill>
            <a:srgbClr val="DF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12126350" y="6026599"/>
            <a:ext cx="2194560" cy="934094"/>
          </a:xfrm>
          <a:prstGeom prst="roundRect">
            <a:avLst>
              <a:gd name="adj" fmla="val 10000"/>
            </a:avLst>
          </a:prstGeom>
          <a:solidFill>
            <a:srgbClr val="FFF3E2"/>
          </a:solidFill>
          <a:ln w="12700">
            <a:solidFill>
              <a:srgbClr val="DDB6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227638" y="6139140"/>
            <a:ext cx="2003239" cy="393895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1050" b="1">
                <a:solidFill>
                  <a:srgbClr val="14273E"/>
                </a:solidFill>
                <a:latin typeface="DejaVu Sans"/>
              </a:rPr>
              <a:t>Review and approve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227638" y="6471138"/>
            <a:ext cx="2008866" cy="472674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819" b="0">
                <a:solidFill>
                  <a:srgbClr val="586D84"/>
                </a:solidFill>
                <a:latin typeface="DejaVu Sans"/>
              </a:rPr>
              <a:t>Resolve, retain audit trail, then release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93895" y="7348962"/>
            <a:ext cx="13842609" cy="472674"/>
          </a:xfrm>
          <a:prstGeom prst="roundRect">
            <a:avLst>
              <a:gd name="adj" fmla="val 10000"/>
            </a:avLst>
          </a:prstGeom>
          <a:solidFill>
            <a:srgbClr val="EDF5FC"/>
          </a:solidFill>
          <a:ln w="7620">
            <a:solidFill>
              <a:srgbClr val="C5D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34572" y="7472758"/>
            <a:ext cx="13533120" cy="292608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1040" b="1">
                <a:solidFill>
                  <a:srgbClr val="246AA3"/>
                </a:solidFill>
                <a:latin typeface="DejaVu Sans"/>
              </a:rPr>
              <a:t>PERIODIC COUNT     Opening stock + received + transfers in - sales - approved gifts - transfers out + approved returns / adjustments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93895" y="8164888"/>
            <a:ext cx="13842609" cy="185693"/>
          </a:xfrm>
          <a:prstGeom prst="rect">
            <a:avLst/>
          </a:prstGeom>
          <a:noFill/>
        </p:spPr>
        <p:txBody>
          <a:bodyPr wrap="square" lIns="10972" rIns="10972" tIns="0" bIns="0">
            <a:spAutoFit/>
          </a:bodyPr>
          <a:lstStyle/>
          <a:p>
            <a:pPr algn="l"/>
            <a:r>
              <a:rPr sz="790" b="0">
                <a:solidFill>
                  <a:srgbClr val="586D84"/>
                </a:solidFill>
                <a:latin typeface="DejaVu Sans"/>
              </a:rPr>
              <a:t>Where differences remain, stock should not be treated as unrestricted available stock. Frequency / negative-stock rules still require management approval.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